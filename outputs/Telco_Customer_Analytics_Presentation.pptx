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5D4E"/>
                </a:solidFill>
              </a:defRPr>
            </a:pPr>
            <a:r>
              <a:t>Telco Customer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Classification • Regression • K-Means &amp; Hierarchical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828800" cy="73152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Dataset overview and key statistics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Exploratory data analysis (EDA) highlights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Modeling approach and preprocessing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Churn classification results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Revenue regression results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Customer segmentation: K-Means and Hierarchical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Insights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14400"/>
            <a:ext cx="237744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Total Customers</a:t>
            </a:r>
          </a:p>
          <a:p>
            <a:pPr algn="ctr">
              <a:defRPr sz="2200" b="1">
                <a:solidFill>
                  <a:srgbClr val="1E5D4E"/>
                </a:solidFill>
              </a:defRPr>
            </a:pPr>
            <a:r>
              <a:t>7,043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914400"/>
            <a:ext cx="237744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Churn Rate</a:t>
            </a:r>
          </a:p>
          <a:p>
            <a:pPr algn="ctr">
              <a:defRPr sz="2200" b="1">
                <a:solidFill>
                  <a:srgbClr val="1E5D4E"/>
                </a:solidFill>
              </a:defRPr>
            </a:pPr>
            <a:r>
              <a:t>26.5%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914400"/>
            <a:ext cx="237744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Avg Tenure</a:t>
            </a:r>
          </a:p>
          <a:p>
            <a:pPr algn="ctr">
              <a:defRPr sz="2200" b="1">
                <a:solidFill>
                  <a:srgbClr val="1E5D4E"/>
                </a:solidFill>
              </a:defRPr>
            </a:pPr>
            <a:r>
              <a:t>32.4 mo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5360" y="914400"/>
            <a:ext cx="2377440" cy="1005840"/>
          </a:xfrm>
          <a:prstGeom prst="roundRect">
            <a:avLst/>
          </a:prstGeom>
          <a:solidFill>
            <a:srgbClr val="F5F7FA"/>
          </a:solidFill>
          <a:ln>
            <a:solidFill>
              <a:srgbClr val="E6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6B7280"/>
                </a:solidFill>
              </a:defRPr>
            </a:pPr>
            <a:r>
              <a:t>Avg Monthly</a:t>
            </a:r>
          </a:p>
          <a:p>
            <a:pPr algn="ctr">
              <a:defRPr sz="2200" b="1">
                <a:solidFill>
                  <a:srgbClr val="1E5D4E"/>
                </a:solidFill>
              </a:defRPr>
            </a:pPr>
            <a:r>
              <a:t>$64.76</a:t>
            </a:r>
          </a:p>
        </p:txBody>
      </p:sp>
      <p:pic>
        <p:nvPicPr>
          <p:cNvPr id="8" name="Picture 7" descr="cell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492679"/>
            <a:ext cx="5212080" cy="34271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2103120"/>
            <a:ext cx="5486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Key attributes: demographics, services, contracts, billing, and tenure.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Goal: predict churn, estimate revenue, and segment customers.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EDA Highlights — Churn Drivers</a:t>
            </a:r>
          </a:p>
        </p:txBody>
      </p:sp>
      <p:pic>
        <p:nvPicPr>
          <p:cNvPr id="4" name="Picture 3" descr="cell10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51437"/>
            <a:ext cx="5852159" cy="2046564"/>
          </a:xfrm>
          <a:prstGeom prst="rect">
            <a:avLst/>
          </a:prstGeom>
        </p:spPr>
      </p:pic>
      <p:pic>
        <p:nvPicPr>
          <p:cNvPr id="5" name="Picture 4" descr="cell12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352396"/>
            <a:ext cx="5486400" cy="22446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EDA Highlights — Distributions &amp; Correlations</a:t>
            </a:r>
          </a:p>
        </p:txBody>
      </p:sp>
      <p:pic>
        <p:nvPicPr>
          <p:cNvPr id="4" name="Picture 3" descr="cell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766767"/>
            <a:ext cx="5852160" cy="1415904"/>
          </a:xfrm>
          <a:prstGeom prst="rect">
            <a:avLst/>
          </a:prstGeom>
        </p:spPr>
      </p:pic>
      <p:pic>
        <p:nvPicPr>
          <p:cNvPr id="5" name="Picture 4" descr="cell1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44362"/>
            <a:ext cx="5486400" cy="4260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EDA — Feature Relationships</a:t>
            </a:r>
          </a:p>
        </p:txBody>
      </p:sp>
      <p:pic>
        <p:nvPicPr>
          <p:cNvPr id="4" name="Picture 3" descr="cell1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934" y="914400"/>
            <a:ext cx="5789091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EDA — Services &amp; Tenure</a:t>
            </a:r>
          </a:p>
        </p:txBody>
      </p:sp>
      <p:pic>
        <p:nvPicPr>
          <p:cNvPr id="4" name="Picture 3" descr="cell1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0722"/>
            <a:ext cx="5852160" cy="3847995"/>
          </a:xfrm>
          <a:prstGeom prst="rect">
            <a:avLst/>
          </a:prstGeom>
        </p:spPr>
      </p:pic>
      <p:pic>
        <p:nvPicPr>
          <p:cNvPr id="5" name="Picture 4" descr="cell16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34610"/>
            <a:ext cx="5486400" cy="26802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Modeling Approach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920240" cy="731520"/>
          </a:xfrm>
          <a:prstGeom prst="roundRect">
            <a:avLst/>
          </a:prstGeom>
          <a:solidFill>
            <a:srgbClr val="E8EEEB"/>
          </a:solidFill>
          <a:ln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Preprocess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463040"/>
            <a:ext cx="1920240" cy="731520"/>
          </a:xfrm>
          <a:prstGeom prst="roundRect">
            <a:avLst/>
          </a:prstGeom>
          <a:solidFill>
            <a:srgbClr val="E8EEEB"/>
          </a:solidFill>
          <a:ln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Train/Test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37760" y="1463040"/>
            <a:ext cx="1920240" cy="731520"/>
          </a:xfrm>
          <a:prstGeom prst="roundRect">
            <a:avLst/>
          </a:prstGeom>
          <a:solidFill>
            <a:srgbClr val="E8EEEB"/>
          </a:solidFill>
          <a:ln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Modeling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463040"/>
            <a:ext cx="1920240" cy="731520"/>
          </a:xfrm>
          <a:prstGeom prst="roundRect">
            <a:avLst/>
          </a:prstGeom>
          <a:solidFill>
            <a:srgbClr val="E8EEEB"/>
          </a:solidFill>
          <a:ln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463040"/>
            <a:ext cx="1920240" cy="731520"/>
          </a:xfrm>
          <a:prstGeom prst="roundRect">
            <a:avLst/>
          </a:prstGeom>
          <a:solidFill>
            <a:srgbClr val="E8EEEB"/>
          </a:solidFill>
          <a:ln>
            <a:solidFill>
              <a:srgbClr val="C8D2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Encoding: OneHot for categoricals; scaling for numeric features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Models: Logistic Regression, Decision Tree, Random Forest, HistGradientBoosting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Regression: Linear, Random Forest, Gradient Boosting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Clustering: K-Means and Agglomerative (Hierarchical)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Churn Classification —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5486397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771"/>
                <a:gridCol w="783771"/>
                <a:gridCol w="783771"/>
                <a:gridCol w="783771"/>
                <a:gridCol w="783771"/>
                <a:gridCol w="783771"/>
                <a:gridCol w="783771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Unnamed: 0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roc_auc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0.797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0.844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0.554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0.837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DecisionTree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0.615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0.829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0.790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0.629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0.829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ell2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755" y="914400"/>
            <a:ext cx="2965608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Churn Classification — Diagnostics</a:t>
            </a:r>
          </a:p>
        </p:txBody>
      </p:sp>
      <p:pic>
        <p:nvPicPr>
          <p:cNvPr id="4" name="Picture 3" descr="cell2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35" y="914400"/>
            <a:ext cx="3615690" cy="2377440"/>
          </a:xfrm>
          <a:prstGeom prst="rect">
            <a:avLst/>
          </a:prstGeom>
        </p:spPr>
      </p:pic>
      <p:pic>
        <p:nvPicPr>
          <p:cNvPr id="5" name="Picture 4" descr="cell21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155" y="914400"/>
            <a:ext cx="3615690" cy="2377440"/>
          </a:xfrm>
          <a:prstGeom prst="rect">
            <a:avLst/>
          </a:prstGeom>
        </p:spPr>
      </p:pic>
      <p:pic>
        <p:nvPicPr>
          <p:cNvPr id="6" name="Picture 5" descr="cell22_im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1191" y="3474720"/>
            <a:ext cx="4793456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Revenue Regression —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9144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Unnamed: 0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R2</a:t>
                      </a:r>
                    </a:p>
                  </a:txBody>
                  <a:tcPr>
                    <a:solidFill>
                      <a:srgbClr val="1E5D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RandomForestRegressor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53.713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80.682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0.999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GradientBoostingRegressor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73.883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105.304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0.998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LinearRegression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560.250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692.530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F2937"/>
                          </a:solidFill>
                        </a:defRPr>
                      </a:pPr>
                      <a:r>
                        <a:t>0.907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cell25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676" y="914400"/>
            <a:ext cx="2868646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Revenue Regression — Diagnostics</a:t>
            </a:r>
          </a:p>
        </p:txBody>
      </p:sp>
      <p:pic>
        <p:nvPicPr>
          <p:cNvPr id="4" name="Picture 3" descr="cell25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435" y="914400"/>
            <a:ext cx="3615690" cy="2377440"/>
          </a:xfrm>
          <a:prstGeom prst="rect">
            <a:avLst/>
          </a:prstGeom>
        </p:spPr>
      </p:pic>
      <p:pic>
        <p:nvPicPr>
          <p:cNvPr id="5" name="Picture 4" descr="cell25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6155" y="914400"/>
            <a:ext cx="3615690" cy="2377440"/>
          </a:xfrm>
          <a:prstGeom prst="rect">
            <a:avLst/>
          </a:prstGeom>
        </p:spPr>
      </p:pic>
      <p:pic>
        <p:nvPicPr>
          <p:cNvPr id="6" name="Picture 5" descr="cell25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310" y="3474720"/>
            <a:ext cx="3683218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K-Means — Choosing K</a:t>
            </a:r>
          </a:p>
        </p:txBody>
      </p:sp>
      <p:pic>
        <p:nvPicPr>
          <p:cNvPr id="4" name="Picture 3" descr="cell28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54600"/>
            <a:ext cx="5669280" cy="1840239"/>
          </a:xfrm>
          <a:prstGeom prst="rect">
            <a:avLst/>
          </a:prstGeom>
        </p:spPr>
      </p:pic>
      <p:pic>
        <p:nvPicPr>
          <p:cNvPr id="5" name="Picture 4" descr="cell30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70972"/>
            <a:ext cx="5486400" cy="36074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K-Means — Cluster Structure</a:t>
            </a:r>
          </a:p>
        </p:txBody>
      </p:sp>
      <p:pic>
        <p:nvPicPr>
          <p:cNvPr id="4" name="Picture 3" descr="cell2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13333"/>
            <a:ext cx="5669280" cy="4722773"/>
          </a:xfrm>
          <a:prstGeom prst="rect">
            <a:avLst/>
          </a:prstGeom>
        </p:spPr>
      </p:pic>
      <p:pic>
        <p:nvPicPr>
          <p:cNvPr id="5" name="Picture 4" descr="cell3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19007"/>
            <a:ext cx="5486400" cy="2711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K-Means — Categorical Profiles</a:t>
            </a:r>
          </a:p>
        </p:txBody>
      </p:sp>
      <p:pic>
        <p:nvPicPr>
          <p:cNvPr id="4" name="Picture 3" descr="cell31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2526940"/>
            <a:ext cx="3840480" cy="1895558"/>
          </a:xfrm>
          <a:prstGeom prst="rect">
            <a:avLst/>
          </a:prstGeom>
        </p:spPr>
      </p:pic>
      <p:pic>
        <p:nvPicPr>
          <p:cNvPr id="5" name="Picture 4" descr="cell31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529371"/>
            <a:ext cx="3840480" cy="1890697"/>
          </a:xfrm>
          <a:prstGeom prst="rect">
            <a:avLst/>
          </a:prstGeom>
        </p:spPr>
      </p:pic>
      <p:pic>
        <p:nvPicPr>
          <p:cNvPr id="6" name="Picture 5" descr="cell31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523272"/>
            <a:ext cx="3840479" cy="19028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Hierarchical Clustering</a:t>
            </a:r>
          </a:p>
        </p:txBody>
      </p:sp>
      <p:pic>
        <p:nvPicPr>
          <p:cNvPr id="4" name="Picture 3" descr="cell32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80445"/>
            <a:ext cx="5669280" cy="2788548"/>
          </a:xfrm>
          <a:prstGeom prst="rect">
            <a:avLst/>
          </a:prstGeom>
        </p:spPr>
      </p:pic>
      <p:pic>
        <p:nvPicPr>
          <p:cNvPr id="5" name="Picture 4" descr="cell33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9506"/>
            <a:ext cx="5486400" cy="457042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Hierarchical — Profiles</a:t>
            </a:r>
          </a:p>
        </p:txBody>
      </p:sp>
      <p:pic>
        <p:nvPicPr>
          <p:cNvPr id="4" name="Picture 3" descr="cell34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73816"/>
            <a:ext cx="5669280" cy="2801806"/>
          </a:xfrm>
          <a:prstGeom prst="rect">
            <a:avLst/>
          </a:prstGeom>
        </p:spPr>
      </p:pic>
      <p:pic>
        <p:nvPicPr>
          <p:cNvPr id="5" name="Picture 4" descr="cell34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20749"/>
            <a:ext cx="5486400" cy="27079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Hierarchical — Categorical Profiles</a:t>
            </a:r>
          </a:p>
        </p:txBody>
      </p:sp>
      <p:pic>
        <p:nvPicPr>
          <p:cNvPr id="4" name="Picture 3" descr="cell34_img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" y="2526940"/>
            <a:ext cx="3840480" cy="1895558"/>
          </a:xfrm>
          <a:prstGeom prst="rect">
            <a:avLst/>
          </a:prstGeom>
        </p:spPr>
      </p:pic>
      <p:pic>
        <p:nvPicPr>
          <p:cNvPr id="5" name="Picture 4" descr="cell34_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2529371"/>
            <a:ext cx="3840480" cy="1890697"/>
          </a:xfrm>
          <a:prstGeom prst="rect">
            <a:avLst/>
          </a:prstGeom>
        </p:spPr>
      </p:pic>
      <p:pic>
        <p:nvPicPr>
          <p:cNvPr id="6" name="Picture 5" descr="cell34_img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2523272"/>
            <a:ext cx="3840479" cy="19028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E5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F2937"/>
                </a:solidFill>
              </a:defRPr>
            </a:pPr>
            <a:r>
              <a:t>Contract type and tenure are the strongest churn drivers; prioritize retention for month-to-month customers.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Higher service count correlates with lower churn; bundle offers can increase stickiness.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Regression shows TotalCharges is strongly driven by tenure and MonthlyCharges; focus on long-term value growth.</a:t>
            </a:r>
          </a:p>
          <a:p>
            <a:pPr>
              <a:defRPr sz="1800">
                <a:solidFill>
                  <a:srgbClr val="1F2937"/>
                </a:solidFill>
              </a:defRPr>
            </a:pPr>
            <a:r>
              <a:t>K-Means and Hierarchical clusters reveal distinct segments — tailor marketing by segment needs.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801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E5D4E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291840"/>
            <a:ext cx="1828800" cy="73152"/>
          </a:xfrm>
          <a:prstGeom prst="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